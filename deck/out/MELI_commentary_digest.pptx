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12"/>
    <p:sldId id="257" r:id="rId13"/>
    <p:sldId id="258" r:id="rId14"/>
    <p:sldId id="259" r:id="rId15"/>
    <p:sldId id="260" r:id="rId16"/>
    <p:sldId id="261" r:id="rId11"/>
    <p:sldId id="262" r:id="rId10"/>
    <p:sldId id="263" r:id="rId9"/>
    <p:sldId id="264" r:id="rId8"/>
  </p:sldIdLst>
  <p:sldSz cy="6858000" cx="9144000"/>
  <p:notesSz cx="6808775" cy="9940925"/>
  <p:embeddedFontLst>
    <p:embeddedFont>
      <p:font typeface="Palatino Linotype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3">
          <p15:clr>
            <a:srgbClr val="A4A3A4"/>
          </p15:clr>
        </p15:guide>
        <p15:guide id="2" orient="horz" pos="4031">
          <p15:clr>
            <a:srgbClr val="A4A3A4"/>
          </p15:clr>
        </p15:guide>
        <p15:guide id="3" orient="horz" pos="841">
          <p15:clr>
            <a:srgbClr val="A4A3A4"/>
          </p15:clr>
        </p15:guide>
        <p15:guide id="4" orient="horz" pos="2410">
          <p15:clr>
            <a:srgbClr val="A4A3A4"/>
          </p15:clr>
        </p15:guide>
        <p15:guide id="5" pos="5473">
          <p15:clr>
            <a:srgbClr val="A4A3A4"/>
          </p15:clr>
        </p15:guide>
        <p15:guide id="6" pos="285">
          <p15:clr>
            <a:srgbClr val="A4A3A4"/>
          </p15:clr>
        </p15:guide>
        <p15:guide id="7" pos="2929">
          <p15:clr>
            <a:srgbClr val="A4A3A4"/>
          </p15:clr>
        </p15:guide>
      </p15:sldGuideLst>
    </p:ext>
    <p:ext uri="{2D200454-40CA-4A62-9FC3-DE9A4176ACB9}">
      <p15:notesGuideLst>
        <p15:guide id="1" orient="horz" pos="3036">
          <p15:clr>
            <a:srgbClr val="A4A3A4"/>
          </p15:clr>
        </p15:guide>
        <p15:guide id="2" pos="2060">
          <p15:clr>
            <a:srgbClr val="A4A3A4"/>
          </p15:clr>
        </p15:guide>
        <p15:guide id="3" orient="horz" pos="3132">
          <p15:clr>
            <a:srgbClr val="A4A3A4"/>
          </p15:clr>
        </p15:guide>
        <p15:guide id="4" pos="2145">
          <p15:clr>
            <a:srgbClr val="A4A3A4"/>
          </p15:clr>
        </p15:guide>
      </p15:notesGuideLst>
    </p:ext>
    <p:ext uri="GoogleSlidesCustomDataVersion2">
      <go:slidesCustomData xmlns:go="http://customooxmlschemas.google.com/" r:id="rId21" roundtripDataSignature="AMtx7mib/qjHQtuVwQPGqx/qXV5KIymp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601326-7664-4D7C-B09F-3C22CD96799B}">
  <a:tblStyle styleId="{C3601326-7664-4D7C-B09F-3C22CD96799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8EC"/>
          </a:solidFill>
        </a:fill>
      </a:tcStyle>
    </a:wholeTbl>
    <a:band1H>
      <a:tcTxStyle/>
      <a:tcStyle>
        <a:fill>
          <a:solidFill>
            <a:srgbClr val="CACED6"/>
          </a:solidFill>
        </a:fill>
      </a:tcStyle>
    </a:band1H>
    <a:band2H>
      <a:tcTxStyle/>
    </a:band2H>
    <a:band1V>
      <a:tcTxStyle/>
      <a:tcStyle>
        <a:fill>
          <a:solidFill>
            <a:srgbClr val="CACED6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3" orient="horz"/>
        <p:guide pos="4031" orient="horz"/>
        <p:guide pos="841" orient="horz"/>
        <p:guide pos="2410" orient="horz"/>
        <p:guide pos="5473"/>
        <p:guide pos="285"/>
        <p:guide pos="2929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36" orient="horz"/>
        <p:guide pos="2060"/>
        <p:guide pos="3132" orient="horz"/>
        <p:guide pos="2145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9.xml"/><Relationship Id="rId9" Type="http://schemas.openxmlformats.org/officeDocument/2006/relationships/slide" Target="slides/slide8.xml"/><Relationship Id="rId10" Type="http://schemas.openxmlformats.org/officeDocument/2006/relationships/slide" Target="slides/slide7.xml"/><Relationship Id="rId11" Type="http://schemas.openxmlformats.org/officeDocument/2006/relationships/slide" Target="slides/slide6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font" Target="fonts/PalatinoLinotype-regular.fntdata"/><Relationship Id="rId18" Type="http://schemas.openxmlformats.org/officeDocument/2006/relationships/font" Target="fonts/PalatinoLinotype-bold.fntdata"/><Relationship Id="rId19" Type="http://schemas.openxmlformats.org/officeDocument/2006/relationships/font" Target="fonts/PalatinoLinotype-italic.fntdata"/><Relationship Id="rId20" Type="http://schemas.openxmlformats.org/officeDocument/2006/relationships/font" Target="fonts/PalatinoLinotype-boldItalic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8" y="6"/>
            <a:ext cx="2950767" cy="496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6548" y="6"/>
            <a:ext cx="2950767" cy="496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20750" y="749300"/>
            <a:ext cx="4967288" cy="3725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1181" y="4722289"/>
            <a:ext cx="5446439" cy="4472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8" y="9442899"/>
            <a:ext cx="2950767" cy="496389"/>
          </a:xfrm>
          <a:prstGeom prst="rect">
            <a:avLst/>
          </a:prstGeom>
          <a:noFill/>
          <a:ln>
            <a:noFill/>
          </a:ln>
        </p:spPr>
        <p:txBody>
          <a:bodyPr anchorCtr="0" anchor="b" bIns="45625" lIns="91250" spcFirstLastPara="1" rIns="91250" wrap="square" tIns="45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6548" y="9442899"/>
            <a:ext cx="2950767" cy="496389"/>
          </a:xfrm>
          <a:prstGeom prst="rect">
            <a:avLst/>
          </a:prstGeom>
          <a:noFill/>
          <a:ln>
            <a:noFill/>
          </a:ln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ctrTitle"/>
          </p:nvPr>
        </p:nvSpPr>
        <p:spPr>
          <a:xfrm>
            <a:off x="467112" y="4363957"/>
            <a:ext cx="8214926" cy="52142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subTitle"/>
          </p:nvPr>
        </p:nvSpPr>
        <p:spPr>
          <a:xfrm>
            <a:off x="467112" y="4883491"/>
            <a:ext cx="8214926" cy="888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10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3"/>
          <p:cNvCxnSpPr/>
          <p:nvPr/>
        </p:nvCxnSpPr>
        <p:spPr>
          <a:xfrm>
            <a:off x="468313" y="1181100"/>
            <a:ext cx="820737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3"/>
          <p:cNvSpPr txBox="1"/>
          <p:nvPr/>
        </p:nvSpPr>
        <p:spPr>
          <a:xfrm>
            <a:off x="7885113" y="6462713"/>
            <a:ext cx="7969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457200" y="1733550"/>
            <a:ext cx="8229600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type="title"/>
          </p:nvPr>
        </p:nvSpPr>
        <p:spPr>
          <a:xfrm>
            <a:off x="457200" y="454025"/>
            <a:ext cx="82296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74A7C"/>
              </a:buClr>
              <a:buSzPts val="2400"/>
              <a:buFont typeface="Calibri"/>
              <a:buNone/>
              <a:defRPr i="0" sz="2400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2" type="body"/>
          </p:nvPr>
        </p:nvSpPr>
        <p:spPr>
          <a:xfrm>
            <a:off x="457200" y="1203989"/>
            <a:ext cx="8219256" cy="337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No Subtitle">
  <p:cSld name="Title and Content - No Sub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14"/>
          <p:cNvCxnSpPr/>
          <p:nvPr/>
        </p:nvCxnSpPr>
        <p:spPr>
          <a:xfrm>
            <a:off x="468313" y="1181100"/>
            <a:ext cx="820737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4"/>
          <p:cNvSpPr txBox="1"/>
          <p:nvPr/>
        </p:nvSpPr>
        <p:spPr>
          <a:xfrm>
            <a:off x="7885113" y="6462713"/>
            <a:ext cx="7969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457200" y="1425635"/>
            <a:ext cx="8229600" cy="497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type="title"/>
          </p:nvPr>
        </p:nvSpPr>
        <p:spPr>
          <a:xfrm>
            <a:off x="457200" y="454025"/>
            <a:ext cx="82296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74A7C"/>
              </a:buClr>
              <a:buSzPts val="2400"/>
              <a:buFont typeface="Calibri"/>
              <a:buNone/>
              <a:defRPr i="0" sz="2400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471488" y="2747962"/>
            <a:ext cx="821055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2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16"/>
          <p:cNvCxnSpPr/>
          <p:nvPr/>
        </p:nvCxnSpPr>
        <p:spPr>
          <a:xfrm>
            <a:off x="468313" y="1181100"/>
            <a:ext cx="820737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6"/>
          <p:cNvSpPr txBox="1"/>
          <p:nvPr/>
        </p:nvSpPr>
        <p:spPr>
          <a:xfrm>
            <a:off x="7885113" y="6462713"/>
            <a:ext cx="7969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6"/>
          <p:cNvSpPr txBox="1"/>
          <p:nvPr>
            <p:ph type="title"/>
          </p:nvPr>
        </p:nvSpPr>
        <p:spPr>
          <a:xfrm>
            <a:off x="457200" y="454025"/>
            <a:ext cx="82296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457200" y="1203989"/>
            <a:ext cx="8219256" cy="337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oxes">
  <p:cSld name="Two boxe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17"/>
          <p:cNvCxnSpPr/>
          <p:nvPr/>
        </p:nvCxnSpPr>
        <p:spPr>
          <a:xfrm>
            <a:off x="468313" y="1181100"/>
            <a:ext cx="820737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7"/>
          <p:cNvSpPr txBox="1"/>
          <p:nvPr/>
        </p:nvSpPr>
        <p:spPr>
          <a:xfrm>
            <a:off x="7885113" y="6462713"/>
            <a:ext cx="7969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454025"/>
            <a:ext cx="82296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74A7C"/>
              </a:buClr>
              <a:buSzPts val="2400"/>
              <a:buFont typeface="Calibri"/>
              <a:buNone/>
              <a:defRPr i="0" sz="2400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708339"/>
            <a:ext cx="4040188" cy="22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1939333"/>
            <a:ext cx="4040188" cy="4464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708339"/>
            <a:ext cx="4041775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1939333"/>
            <a:ext cx="4041775" cy="4464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5" type="body"/>
          </p:nvPr>
        </p:nvSpPr>
        <p:spPr>
          <a:xfrm>
            <a:off x="457200" y="1203989"/>
            <a:ext cx="8219256" cy="337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oxes - No Subtitle">
  <p:cSld name="Two boxes - No Sub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8"/>
          <p:cNvCxnSpPr/>
          <p:nvPr/>
        </p:nvCxnSpPr>
        <p:spPr>
          <a:xfrm>
            <a:off x="468313" y="1181100"/>
            <a:ext cx="820737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8"/>
          <p:cNvSpPr txBox="1"/>
          <p:nvPr/>
        </p:nvSpPr>
        <p:spPr>
          <a:xfrm>
            <a:off x="7885113" y="6462713"/>
            <a:ext cx="7969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454025"/>
            <a:ext cx="82296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74A7C"/>
              </a:buClr>
              <a:buSzPts val="2400"/>
              <a:buFont typeface="Calibri"/>
              <a:buNone/>
              <a:defRPr i="0" sz="2400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457200" y="1363092"/>
            <a:ext cx="4040188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457200" y="1595535"/>
            <a:ext cx="4040188" cy="480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8"/>
          <p:cNvSpPr txBox="1"/>
          <p:nvPr>
            <p:ph idx="3" type="body"/>
          </p:nvPr>
        </p:nvSpPr>
        <p:spPr>
          <a:xfrm>
            <a:off x="4645025" y="1363092"/>
            <a:ext cx="4041775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8"/>
          <p:cNvSpPr txBox="1"/>
          <p:nvPr>
            <p:ph idx="4" type="body"/>
          </p:nvPr>
        </p:nvSpPr>
        <p:spPr>
          <a:xfrm>
            <a:off x="4645025" y="1595535"/>
            <a:ext cx="4041775" cy="480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oxes">
  <p:cSld name="Four boxe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9"/>
          <p:cNvCxnSpPr/>
          <p:nvPr/>
        </p:nvCxnSpPr>
        <p:spPr>
          <a:xfrm>
            <a:off x="468313" y="1181100"/>
            <a:ext cx="820737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9"/>
          <p:cNvSpPr txBox="1"/>
          <p:nvPr/>
        </p:nvSpPr>
        <p:spPr>
          <a:xfrm>
            <a:off x="7885113" y="6462713"/>
            <a:ext cx="7969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9"/>
          <p:cNvSpPr txBox="1"/>
          <p:nvPr>
            <p:ph idx="1" type="body"/>
          </p:nvPr>
        </p:nvSpPr>
        <p:spPr>
          <a:xfrm>
            <a:off x="457200" y="1203989"/>
            <a:ext cx="8219256" cy="337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454025"/>
            <a:ext cx="8229600" cy="721631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2" type="body"/>
          </p:nvPr>
        </p:nvSpPr>
        <p:spPr>
          <a:xfrm>
            <a:off x="457200" y="1717864"/>
            <a:ext cx="4040188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9"/>
          <p:cNvSpPr txBox="1"/>
          <p:nvPr>
            <p:ph idx="3" type="body"/>
          </p:nvPr>
        </p:nvSpPr>
        <p:spPr>
          <a:xfrm>
            <a:off x="457200" y="1950315"/>
            <a:ext cx="4040188" cy="2048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19"/>
          <p:cNvSpPr txBox="1"/>
          <p:nvPr>
            <p:ph idx="4" type="body"/>
          </p:nvPr>
        </p:nvSpPr>
        <p:spPr>
          <a:xfrm>
            <a:off x="4645025" y="1717864"/>
            <a:ext cx="4041775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9"/>
          <p:cNvSpPr txBox="1"/>
          <p:nvPr>
            <p:ph idx="5" type="body"/>
          </p:nvPr>
        </p:nvSpPr>
        <p:spPr>
          <a:xfrm>
            <a:off x="4645025" y="1950315"/>
            <a:ext cx="4041775" cy="2048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19"/>
          <p:cNvSpPr txBox="1"/>
          <p:nvPr>
            <p:ph idx="6" type="body"/>
          </p:nvPr>
        </p:nvSpPr>
        <p:spPr>
          <a:xfrm>
            <a:off x="457200" y="4112548"/>
            <a:ext cx="4040188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9"/>
          <p:cNvSpPr txBox="1"/>
          <p:nvPr>
            <p:ph idx="7" type="body"/>
          </p:nvPr>
        </p:nvSpPr>
        <p:spPr>
          <a:xfrm>
            <a:off x="457200" y="4344999"/>
            <a:ext cx="4040188" cy="2048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9"/>
          <p:cNvSpPr txBox="1"/>
          <p:nvPr>
            <p:ph idx="8" type="body"/>
          </p:nvPr>
        </p:nvSpPr>
        <p:spPr>
          <a:xfrm>
            <a:off x="4645025" y="4112548"/>
            <a:ext cx="4041775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9"/>
          <p:cNvSpPr txBox="1"/>
          <p:nvPr>
            <p:ph idx="9" type="body"/>
          </p:nvPr>
        </p:nvSpPr>
        <p:spPr>
          <a:xfrm>
            <a:off x="4645025" y="4344999"/>
            <a:ext cx="4041775" cy="2048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oxes - No Subtitle">
  <p:cSld name="Four boxes - No Sub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20"/>
          <p:cNvCxnSpPr/>
          <p:nvPr/>
        </p:nvCxnSpPr>
        <p:spPr>
          <a:xfrm>
            <a:off x="468313" y="1181100"/>
            <a:ext cx="820737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utonomy Logo.jpg" id="66" name="Google Shape;6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48500" y="227013"/>
            <a:ext cx="1633538" cy="42386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0"/>
          <p:cNvSpPr txBox="1"/>
          <p:nvPr/>
        </p:nvSpPr>
        <p:spPr>
          <a:xfrm>
            <a:off x="7885113" y="6462713"/>
            <a:ext cx="7969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0"/>
          <p:cNvSpPr txBox="1"/>
          <p:nvPr>
            <p:ph type="title"/>
          </p:nvPr>
        </p:nvSpPr>
        <p:spPr>
          <a:xfrm>
            <a:off x="457200" y="454025"/>
            <a:ext cx="8229600" cy="721631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" type="body"/>
          </p:nvPr>
        </p:nvSpPr>
        <p:spPr>
          <a:xfrm>
            <a:off x="457200" y="1344624"/>
            <a:ext cx="4040188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20"/>
          <p:cNvSpPr txBox="1"/>
          <p:nvPr>
            <p:ph idx="2" type="body"/>
          </p:nvPr>
        </p:nvSpPr>
        <p:spPr>
          <a:xfrm>
            <a:off x="457200" y="1581703"/>
            <a:ext cx="4040188" cy="2202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1" name="Google Shape;71;p20"/>
          <p:cNvSpPr txBox="1"/>
          <p:nvPr>
            <p:ph idx="3" type="body"/>
          </p:nvPr>
        </p:nvSpPr>
        <p:spPr>
          <a:xfrm>
            <a:off x="4645025" y="1344624"/>
            <a:ext cx="4041775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20"/>
          <p:cNvSpPr txBox="1"/>
          <p:nvPr>
            <p:ph idx="4" type="body"/>
          </p:nvPr>
        </p:nvSpPr>
        <p:spPr>
          <a:xfrm>
            <a:off x="4645025" y="1581703"/>
            <a:ext cx="4041775" cy="2202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3" name="Google Shape;73;p20"/>
          <p:cNvSpPr txBox="1"/>
          <p:nvPr>
            <p:ph idx="5" type="body"/>
          </p:nvPr>
        </p:nvSpPr>
        <p:spPr>
          <a:xfrm>
            <a:off x="457200" y="3897935"/>
            <a:ext cx="4040188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20"/>
          <p:cNvSpPr txBox="1"/>
          <p:nvPr>
            <p:ph idx="6" type="body"/>
          </p:nvPr>
        </p:nvSpPr>
        <p:spPr>
          <a:xfrm>
            <a:off x="457200" y="4125683"/>
            <a:ext cx="4040188" cy="2273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5" name="Google Shape;75;p20"/>
          <p:cNvSpPr txBox="1"/>
          <p:nvPr>
            <p:ph idx="7" type="body"/>
          </p:nvPr>
        </p:nvSpPr>
        <p:spPr>
          <a:xfrm>
            <a:off x="4645025" y="3897935"/>
            <a:ext cx="4041775" cy="228600"/>
          </a:xfrm>
          <a:prstGeom prst="rect">
            <a:avLst/>
          </a:prstGeom>
          <a:solidFill>
            <a:srgbClr val="BDCE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>
                <a:solidFill>
                  <a:srgbClr val="2E43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20"/>
          <p:cNvSpPr txBox="1"/>
          <p:nvPr>
            <p:ph idx="8" type="body"/>
          </p:nvPr>
        </p:nvSpPr>
        <p:spPr>
          <a:xfrm>
            <a:off x="4645025" y="4125683"/>
            <a:ext cx="4041775" cy="2273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21"/>
          <p:cNvCxnSpPr/>
          <p:nvPr/>
        </p:nvCxnSpPr>
        <p:spPr>
          <a:xfrm>
            <a:off x="468313" y="1181100"/>
            <a:ext cx="820737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21"/>
          <p:cNvSpPr txBox="1"/>
          <p:nvPr/>
        </p:nvSpPr>
        <p:spPr>
          <a:xfrm>
            <a:off x="7885113" y="6462713"/>
            <a:ext cx="7969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1"/>
          <p:cNvSpPr txBox="1"/>
          <p:nvPr>
            <p:ph type="title"/>
          </p:nvPr>
        </p:nvSpPr>
        <p:spPr>
          <a:xfrm>
            <a:off x="457200" y="454025"/>
            <a:ext cx="82296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74A7C"/>
              </a:buClr>
              <a:buSzPts val="2400"/>
              <a:buFont typeface="Calibri"/>
              <a:buNone/>
              <a:defRPr i="0" sz="2400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452438" y="1733550"/>
            <a:ext cx="4038600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21"/>
          <p:cNvSpPr txBox="1"/>
          <p:nvPr>
            <p:ph idx="2" type="body"/>
          </p:nvPr>
        </p:nvSpPr>
        <p:spPr>
          <a:xfrm>
            <a:off x="4643438" y="1733550"/>
            <a:ext cx="4038600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429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3" name="Google Shape;83;p21"/>
          <p:cNvSpPr txBox="1"/>
          <p:nvPr>
            <p:ph idx="3" type="body"/>
          </p:nvPr>
        </p:nvSpPr>
        <p:spPr>
          <a:xfrm>
            <a:off x="457200" y="1203989"/>
            <a:ext cx="8219256" cy="337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22"/>
          <p:cNvCxnSpPr/>
          <p:nvPr/>
        </p:nvCxnSpPr>
        <p:spPr>
          <a:xfrm>
            <a:off x="468313" y="1181100"/>
            <a:ext cx="820737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utonomy Logo.jpg" id="86" name="Google Shape;8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48500" y="227013"/>
            <a:ext cx="1633538" cy="42386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2"/>
          <p:cNvSpPr txBox="1"/>
          <p:nvPr/>
        </p:nvSpPr>
        <p:spPr>
          <a:xfrm>
            <a:off x="7885113" y="6462713"/>
            <a:ext cx="79692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2"/>
          <p:cNvSpPr txBox="1"/>
          <p:nvPr>
            <p:ph type="title"/>
          </p:nvPr>
        </p:nvSpPr>
        <p:spPr>
          <a:xfrm>
            <a:off x="457200" y="273049"/>
            <a:ext cx="8224838" cy="902607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575050" y="1733550"/>
            <a:ext cx="5111750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spcBef>
                <a:spcPts val="0"/>
              </a:spcBef>
              <a:spcAft>
                <a:spcPts val="0"/>
              </a:spcAft>
              <a:buSzPts val="1300"/>
              <a:buChar char="▪"/>
              <a:defRPr sz="1300"/>
            </a:lvl1pPr>
            <a:lvl2pPr indent="-311150" lvl="1" marL="914400" algn="l">
              <a:spcBef>
                <a:spcPts val="600"/>
              </a:spcBef>
              <a:spcAft>
                <a:spcPts val="0"/>
              </a:spcAft>
              <a:buSzPts val="1300"/>
              <a:buChar char="•"/>
              <a:defRPr sz="13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‒"/>
              <a:defRPr sz="1300"/>
            </a:lvl3pPr>
            <a:lvl4pPr indent="-294640" lvl="3" marL="1828800" algn="l">
              <a:spcBef>
                <a:spcPts val="400"/>
              </a:spcBef>
              <a:spcAft>
                <a:spcPts val="0"/>
              </a:spcAft>
              <a:buSzPts val="1040"/>
              <a:buChar char="▪"/>
              <a:defRPr sz="13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»"/>
              <a:defRPr sz="13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457200" y="1733550"/>
            <a:ext cx="3008313" cy="4670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1" name="Google Shape;91;p22"/>
          <p:cNvSpPr txBox="1"/>
          <p:nvPr>
            <p:ph idx="3" type="body"/>
          </p:nvPr>
        </p:nvSpPr>
        <p:spPr>
          <a:xfrm>
            <a:off x="457200" y="1203989"/>
            <a:ext cx="8219256" cy="337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454025"/>
            <a:ext cx="82296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91425" spcFirstLastPara="1" rIns="91425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174A7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2438" y="1733550"/>
            <a:ext cx="8229600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▪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11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115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Char char="‒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464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▪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/>
        </p:nvSpPr>
        <p:spPr>
          <a:xfrm>
            <a:off x="6643688" y="500063"/>
            <a:ext cx="2071687" cy="35718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3F3F3F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03C60"/>
                </a:solidFill>
              </a:rPr>
              <a:t>MercadoLibre (MELI)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1"/>
              <a:t>Commentary Digest — YouTube &amp; Podcast Sources</a:t>
            </a:r>
          </a:p>
          <a:p>
            <a:r>
              <a:rPr sz="1600" b="1"/>
              <a:t>July 2026</a:t>
            </a:r>
          </a:p>
          <a:p>
            <a:r>
              <a:rPr sz="1600" b="1"/>
              <a:t>Delta Capital Research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"/>
            <a:ext cx="1078992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6949440" cy="1005840"/>
          </a:xfrm>
        </p:spPr>
        <p:txBody>
          <a:bodyPr/>
          <a:lstStyle/>
          <a:p>
            <a:r>
              <a:t>Scope: YouTube and podcast sources only — Reddit and X not yet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Target: MercadoLibre (MELI); window: recent commentary (2025–2026)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Sources queried: YouTube (3 targeted searches), podcast RSS (Business Breakdowns feed)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Reddit: API access requested 2026-07-06, pending Reddit's manual review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X: on hold — no free API tier since Feb 2026 (pay-per-use only)</a:t>
            </a:r>
          </a:p>
          <a:p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Full source-level detail: MELI_commentary_digest_2026-07-06.md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"/>
            <a:ext cx="1078992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6949440" cy="1005840"/>
          </a:xfrm>
        </p:spPr>
        <p:txBody>
          <a:bodyPr/>
          <a:lstStyle/>
          <a:p>
            <a:r>
              <a:t>Leadership transition just completed: Galperin to Szarfsztejn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Marcos Galperin stepped down as CEO Jan 1, 2026 after ~25 years; became Executive Chairman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Ariel Szarfsztejn (joined 2017; built logistics org from 60 to 70,000+ employees) is now CEO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Galperin gave up his salary and title specifically to force full commitment onto the new CEO</a:t>
            </a:r>
          </a:p>
          <a:p>
            <a:r>
              <a:t/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"/>
            <a:ext cx="1078992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6949440" cy="1005840"/>
          </a:xfrm>
        </p:spPr>
        <p:txBody>
          <a:bodyPr/>
          <a:lstStyle/>
          <a:p>
            <a:r>
              <a:t>Galperin engineered the succession as a forcing function, not a retirement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"I’m giving up my salary, I’m giving up my job, I’m giving up the position because whoever leads this company cannot be focused on Mercado Libre and other things." — Galperin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Szarfsztejn calls it Galperin’s "visionary move ... a generational change" — says he was already acting as CEO before the official date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Watch item: Galperin says he remains involved ‘24/7, 365’ as Executive Chairman — worth tracking whether Szarfsztejn has real autonomy</a:t>
            </a:r>
          </a:p>
          <a:p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rial"/>
              </a:rPr>
              <a:t>Bain &amp; Company, “Founder’s Mentality: The CEO Sessions” (2026-02-24) · Americas Society/COA, “BRAVO Leadership Conversation” (2025-10-16)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"/>
            <a:ext cx="1078992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6949440" cy="1005840"/>
          </a:xfrm>
        </p:spPr>
        <p:txBody>
          <a:bodyPr/>
          <a:lstStyle/>
          <a:p>
            <a:r>
              <a:t>Amazon's 2015 entry gets credit for sharpening MELI; Chinese rivals seen as a tougher fight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Galperin: "we would not be the Mercado Libre that we are today if it were not because of Amazon coming into Mexico [in 2015]"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Chinese competitors (Temu/Shein) described as less price-disciplined than Amazon — “a long and tough battle”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Szarfsztejn: Brazil is "probably the most competitive scenario in e-commerce in the world"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Independent analyst (Sven Carlin, June 2026) flags Wall Street concern over margin suppression tied to competitive pressure</a:t>
            </a:r>
          </a:p>
          <a:p>
            <a:r>
              <a:t/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"/>
            <a:ext cx="1078992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6949440" cy="1005840"/>
          </a:xfrm>
        </p:spPr>
        <p:txBody>
          <a:bodyPr/>
          <a:lstStyle/>
          <a:p>
            <a:r>
              <a:t>AI is already capping developer headcount growth, not just an efficiency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Szarfsztejn's four pillars: efficiency, developer productivity, product improvements, early-stage agentic experience (piloted inside Mercado Pago)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Galperin: "this is the first year ever that we won’t grow our developers" — projects 20,000 to ~10,000 over five years via attrition, not layoffs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Platform risk flagged by the founder directly: an AI-native device/partnership could mean "our app doesn’t show up anymore"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Gap: no independent pushback found yet on this narrative — check once Reddit/X access is available</a:t>
            </a:r>
          </a:p>
          <a:p>
            <a:r>
              <a:t/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"/>
            <a:ext cx="1078992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6949440" cy="1005840"/>
          </a:xfrm>
        </p:spPr>
        <p:txBody>
          <a:bodyPr/>
          <a:lstStyle/>
          <a:p>
            <a:r>
              <a:t>Management frames fintech, not e-commerce, as the bigger growth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Mexico: ~6% loan-to-GDP ratio; ~85% of Mexicans lack a credit card — framed as the scale of the opportunity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MELI credit is often cited as a small business's first-ever access to credit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Argentina's remunerated-deposit product grew from ~400K to 18 million investors on-platform</a:t>
            </a:r>
          </a:p>
          <a:p>
            <a:r>
              <a:t/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"/>
            <a:ext cx="1078992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6949440" cy="1005840"/>
          </a:xfrm>
        </p:spPr>
        <p:txBody>
          <a:bodyPr/>
          <a:lstStyle/>
          <a:p>
            <a:r>
              <a:t>Independent analyst sees fair value near current levels, not a clear mispricing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Sven Carlin (independent, YouTube, 2026-06-07): 42% revenue growth, 47% growth in items sold last quarter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His own DCF-style estimate: ~$1,000/share conservative intrinsic value; implies 10–15% expected return depending on growth assumptions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Claims Michael Burry holds a position and "is waiting for lower prices" — [UNSOURCED], the analyst's own claim, not independently verified</a:t>
            </a:r>
          </a:p>
          <a:p>
            <a:r>
              <a:t/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"/>
            <a:ext cx="1078992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6949440" cy="1005840"/>
          </a:xfrm>
        </p:spPr>
        <p:txBody>
          <a:bodyPr/>
          <a:lstStyle/>
          <a:p>
            <a:r>
              <a:t>Two sources still closed; one podcast transcript blocked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Reddit — application submitted 2026-07-06; approval odds uncertain for a private research use case under the new Responsible Builder Policy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X — on hold; pay-per-use only since Feb 2026 (no free tier)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Business Breakdowns podcast episode on MELI (Sept 2025): show notes retrieved; full transcript blocked by source site (403), no transcription key configured</a:t>
            </a:r>
          </a:p>
          <a:p>
            <a:r>
              <a:t/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 Two Spanish-language YouTube videos returned no transcript (caption-language gap)</a:t>
            </a:r>
          </a:p>
          <a:p>
            <a:r>
              <a:t/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"/>
            <a:ext cx="1078992" cy="1014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utonomy PPT template-final">
  <a:themeElements>
    <a:clrScheme name="Autonomy Palette">
      <a:dk1>
        <a:srgbClr val="000000"/>
      </a:dk1>
      <a:lt1>
        <a:srgbClr val="FFFFFF"/>
      </a:lt1>
      <a:dk2>
        <a:srgbClr val="717073"/>
      </a:dk2>
      <a:lt2>
        <a:srgbClr val="0079C1"/>
      </a:lt2>
      <a:accent1>
        <a:srgbClr val="174A7C"/>
      </a:accent1>
      <a:accent2>
        <a:srgbClr val="ADAFB2"/>
      </a:accent2>
      <a:accent3>
        <a:srgbClr val="CDB28C"/>
      </a:accent3>
      <a:accent4>
        <a:srgbClr val="BECFDA"/>
      </a:accent4>
      <a:accent5>
        <a:srgbClr val="006A51"/>
      </a:accent5>
      <a:accent6>
        <a:srgbClr val="5D87A1"/>
      </a:accent6>
      <a:hlink>
        <a:srgbClr val="002B5C"/>
      </a:hlink>
      <a:folHlink>
        <a:srgbClr val="8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2013-06-25T18:35:15Z</dcterms:created>
  <dc:creator>dcatalano</dc:creator>
</cp:coreProperties>
</file>